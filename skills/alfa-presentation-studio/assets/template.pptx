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Helvetica Neue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11" Type="http://schemas.openxmlformats.org/officeDocument/2006/relationships/slide" Target="slides/slide5.xml"/><Relationship Id="rId22" Type="http://schemas.openxmlformats.org/officeDocument/2006/relationships/font" Target="fonts/HelveticaNeue-boldItalic.fntdata"/><Relationship Id="rId10" Type="http://schemas.openxmlformats.org/officeDocument/2006/relationships/slide" Target="slides/slide4.xml"/><Relationship Id="rId21" Type="http://schemas.openxmlformats.org/officeDocument/2006/relationships/font" Target="fonts/HelveticaNeue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HelveticaNeue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nfs_slide_0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nfs_slide_01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Титул. Большой заголовок, логотип, автор и период. В содержании нет обязательной темы или жанра. Это библиотечный макет, а не обязательный слайд или часть фиксированного сценария. Замените все поля своим содержанием; не добавляйте факты, сроки, владельцев или цели без входных данных.</a:t>
            </a:r>
            <a:endParaRPr/>
          </a:p>
        </p:txBody>
      </p:sp>
      <p:sp>
        <p:nvSpPr>
          <p:cNvPr id="55" name="Google Shape;55;nfs_slide_0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roduct_section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roduct_section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Разделитель: название новой части презентации и короткое пояснение. Используйте только если разделы помогают читателю. Это библиотечный макет, а не обязательный слайд или часть фиксированного сценария. Замените все поля своим содержанием; не добавляйте факты, сроки, владельцев или цели без входных данных.</a:t>
            </a:r>
            <a:endParaRPr/>
          </a:p>
        </p:txBody>
      </p:sp>
      <p:sp>
        <p:nvSpPr>
          <p:cNvPr id="64" name="Google Shape;64;product_section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roduct_key_message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roduct_key_message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Одна сильная мысль с кратким объяснением. Подходит для тезиса, решения или принципа. Для обещаний и целей укажите, что это план. Это библиотечный макет, а не обязательный слайд или часть фиксированного сценария. Замените все поля своим содержанием; не добавляйте факты, сроки, владельцев или цели без входных данных.</a:t>
            </a:r>
            <a:endParaRPr/>
          </a:p>
        </p:txBody>
      </p:sp>
      <p:sp>
        <p:nvSpPr>
          <p:cNvPr id="73" name="Google Shape;73;product_key_message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nfs_final_conclusion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nfs_final_conclusion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Две самостоятельные части: проблема и решение, продукт и клиент, цели и действия. Это смысловые роли, а не фиксированные названия. Это библиотечный макет, а не обязательный слайд или часть фиксированного сценария. Замените все поля своим содержанием; не добавляйте факты, сроки, владельцев или цели без входных данных.</a:t>
            </a:r>
            <a:endParaRPr/>
          </a:p>
        </p:txBody>
      </p:sp>
      <p:sp>
        <p:nvSpPr>
          <p:cNvPr id="82" name="Google Shape;82;nfs_final_conclusion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roduct_three_priorities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roduct_three_priorities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Три равнозначных направления на плоском фоне. Колонки могут обозначать инициативы, направления, принципы или этапы. Для двух направлений выберите двухколоночный макет. Это библиотечный макет, а не обязательный слайд или часть фиксированного сценария. Замените все поля своим содержанием; не добавляйте факты, сроки, владельцев или цели без входных данных.</a:t>
            </a:r>
            <a:endParaRPr/>
          </a:p>
        </p:txBody>
      </p:sp>
      <p:sp>
        <p:nvSpPr>
          <p:cNvPr id="95" name="Google Shape;95;product_three_priorities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nfs_slide_0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nfs_slide_02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Горизонтальная схема на четыре периода. Названия могут быть кварталами, месяцами или этапами. У каждого периода покажите результат и действия. Число периодов определяется задачей; не добавляйте привязку к событию, тесту или контролю. Это библиотечный макет, а не обязательный слайд или часть фиксированного сценария. Замените все поля своим содержанием; не добавляйте факты, сроки, владельцев или цели без входных данных.</a:t>
            </a:r>
            <a:endParaRPr/>
          </a:p>
        </p:txBody>
      </p:sp>
      <p:sp>
        <p:nvSpPr>
          <p:cNvPr id="110" name="Google Shape;110;nfs_slide_0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roduct_tasks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roduct_tasks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Редактируемая таблица задач с владельцем, сроком и статусом. Эти поля заполняются только известными данными. Строки можно добавлять или удалять. Для подробного трекера используйте отдельную таблицу. Это библиотечный макет, а не обязательный слайд или часть фиксированного сценария. Замените все поля своим содержанием; не добавляйте факты, сроки, владельцев или цели без входных данных.</a:t>
            </a:r>
            <a:endParaRPr/>
          </a:p>
        </p:txBody>
      </p:sp>
      <p:sp>
        <p:nvSpPr>
          <p:cNvPr id="132" name="Google Shape;132;product_tasks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roduct_numbers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roduct_numbers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Крупные числа для результатов, планов, масштаба или целей. Прочерки являются пустыми полями. Явно различайте факт, план и прогноз. Число показателей не обязано быть равно трём. Это библиотечный макет, а не обязательный слайд или часть фиксированного сценария. Замените все поля своим содержанием; не добавляйте факты, сроки, владельцев или цели без входных данных.</a:t>
            </a:r>
            <a:endParaRPr/>
          </a:p>
        </p:txBody>
      </p:sp>
      <p:sp>
        <p:nvSpPr>
          <p:cNvPr id="172" name="Google Shape;172;product_numbers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nfs_slide_0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nfs_slide_03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Сравнение вариантов, текущего и целевого состояния или двух подходов. Выберите реальные критерии. Не требуется положительный вывод или обязательная рекомендация. Это библиотечный макет, а не обязательный слайд или часть фиксированного сценария. Замените все поля своим содержанием; не добавляйте факты, сроки, владельцев или цели без входных данных.</a:t>
            </a:r>
            <a:endParaRPr/>
          </a:p>
        </p:txBody>
      </p:sp>
      <p:sp>
        <p:nvSpPr>
          <p:cNvPr id="192" name="Google Shape;192;nfs_slide_0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nfs_variant_D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nfs_variant_D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Один график и текстовое объяснение. Ось X может быть временем, сегментами или категориями. Серии не означают автоматически тест и контроль. В макете нет данных, график строится по новым источникам. Если чисел нет, выбирайте текстовый макет. Это библиотечный макет, а не обязательный слайд или часть фиксированного сценария. Замените все поля своим содержанием; не добавляйте факты, сроки, владельцев или цели без входных данных.</a:t>
            </a:r>
            <a:endParaRPr/>
          </a:p>
        </p:txBody>
      </p:sp>
      <p:sp>
        <p:nvSpPr>
          <p:cNvPr id="226" name="Google Shape;226;nfs_variant_D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nfs_slide_0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nfs_slide_04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Два равноправных графика на общей сетке. Используйте только когда оба нужны одной мысли. Оси, серии и периоды определяются новой задачей, без обязательной точки 0 или групп сравнения. Это библиотечный макет, а не обязательный слайд или часть фиксированного сценария. Замените все поля своим содержанием; не добавляйте факты, сроки, владельцев или цели без входных данных.</a:t>
            </a:r>
            <a:endParaRPr/>
          </a:p>
        </p:txBody>
      </p:sp>
      <p:sp>
        <p:nvSpPr>
          <p:cNvPr id="257" name="Google Shape;257;nfs_slide_0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roduct_next_steps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roduct_next_steps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Финал для итога, следующего шага или запроса решения. В готовой презентации оставляйте только подходящие части, а не все роли макета. Это библиотечный макет, а не обязательный слайд или часть фиксированного сценария. Замените все поля своим содержанием; не добавляйте факты, сроки, владельцев или цели без входных данных.</a:t>
            </a:r>
            <a:endParaRPr/>
          </a:p>
        </p:txBody>
      </p:sp>
      <p:sp>
        <p:nvSpPr>
          <p:cNvPr id="300" name="Google Shape;300;product_next_steps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8512835" y="205740"/>
            <a:ext cx="342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ru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8601989" y="548640"/>
            <a:ext cx="164700" cy="3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457200" y="2082800"/>
            <a:ext cx="81279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Название презентации</a:t>
            </a:r>
            <a:endParaRPr b="1" sz="35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Продукт / команда</a:t>
            </a:r>
            <a:endParaRPr b="1" sz="35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457200" y="4648200"/>
            <a:ext cx="50799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A9AAB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[Автор и период]</a:t>
            </a:r>
            <a:endParaRPr sz="1000" cap="none" strike="noStrike">
              <a:solidFill>
                <a:srgbClr val="A9AAB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8512835" y="205740"/>
            <a:ext cx="342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ru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8601989" y="548640"/>
            <a:ext cx="164700" cy="3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457200" y="2146300"/>
            <a:ext cx="8127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Название раздела</a:t>
            </a:r>
            <a:endParaRPr b="1" sz="35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457200" y="34925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[Короткое пояснение к разделу]</a:t>
            </a:r>
            <a:endParaRPr cap="none" strike="noStrike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8512835" y="205740"/>
            <a:ext cx="342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ru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8601989" y="548640"/>
            <a:ext cx="164700" cy="3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7"/>
          <p:cNvSpPr/>
          <p:nvPr/>
        </p:nvSpPr>
        <p:spPr>
          <a:xfrm>
            <a:off x="457200" y="1892300"/>
            <a:ext cx="81279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[Одна главная мысль]</a:t>
            </a:r>
            <a:endParaRPr b="1" sz="35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457200" y="3746500"/>
            <a:ext cx="81279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[Почему это важно или что из этого следует]</a:t>
            </a:r>
            <a:endParaRPr sz="1500" cap="none" strike="noStrike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/>
          <p:nvPr/>
        </p:nvSpPr>
        <p:spPr>
          <a:xfrm>
            <a:off x="377190" y="274320"/>
            <a:ext cx="7746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Две смысловые колонки</a:t>
            </a:r>
            <a:endParaRPr b="1" sz="21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8512835" y="205740"/>
            <a:ext cx="342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ru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8601989" y="548640"/>
            <a:ext cx="164700" cy="3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377190" y="43053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[Общее пояснение или вывод]</a:t>
            </a:r>
            <a:endParaRPr sz="13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377190" y="1917700"/>
            <a:ext cx="39879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[Главная мысль]</a:t>
            </a: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[Аргументы или действия]</a:t>
            </a: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4775200" y="1917700"/>
            <a:ext cx="39879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[Главная мысль]</a:t>
            </a: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[Аргументы или действия]</a:t>
            </a: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377190" y="1282700"/>
            <a:ext cx="39879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F22E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[Тема 1]</a:t>
            </a:r>
            <a:endParaRPr b="1" sz="1700" cap="none" strike="noStrike">
              <a:solidFill>
                <a:srgbClr val="F22E2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4775200" y="1282700"/>
            <a:ext cx="39879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[Тема 2]</a:t>
            </a:r>
            <a:endParaRPr b="1" sz="17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>
            <a:off x="377190" y="274320"/>
            <a:ext cx="7746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Три приоритета</a:t>
            </a:r>
            <a:endParaRPr b="1" sz="21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19"/>
          <p:cNvSpPr/>
          <p:nvPr/>
        </p:nvSpPr>
        <p:spPr>
          <a:xfrm>
            <a:off x="8512835" y="205740"/>
            <a:ext cx="342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ru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9"/>
          <p:cNvSpPr/>
          <p:nvPr/>
        </p:nvSpPr>
        <p:spPr>
          <a:xfrm>
            <a:off x="8601989" y="548640"/>
            <a:ext cx="164700" cy="3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377190" y="43053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[Почему выбраны эти приоритеты]</a:t>
            </a:r>
            <a:endParaRPr sz="13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377190" y="2286000"/>
            <a:ext cx="2536200" cy="18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[Что хотим изменить]</a:t>
            </a:r>
            <a:endParaRPr sz="13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[Ключевые действия]</a:t>
            </a:r>
            <a:endParaRPr sz="13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[Ожидаемый результат]</a:t>
            </a:r>
            <a:endParaRPr sz="13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3302000" y="2286000"/>
            <a:ext cx="2536200" cy="18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[Что хотим изменить]</a:t>
            </a:r>
            <a:endParaRPr sz="13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[Ключевые действия]</a:t>
            </a:r>
            <a:endParaRPr sz="13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[Ожидаемый результат]</a:t>
            </a:r>
            <a:endParaRPr sz="13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377190" y="1612900"/>
            <a:ext cx="2536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[Приоритет 1]</a:t>
            </a:r>
            <a:endParaRPr b="1" sz="15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3302000" y="1612900"/>
            <a:ext cx="2536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[Приоритет 2]</a:t>
            </a:r>
            <a:endParaRPr b="1" sz="15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6226810" y="1612900"/>
            <a:ext cx="2536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[Приоритет 3]</a:t>
            </a:r>
            <a:endParaRPr b="1" sz="15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6226810" y="2286000"/>
            <a:ext cx="2536200" cy="18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[Что хотим изменить]</a:t>
            </a:r>
            <a:endParaRPr sz="13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[Ключевые действия]</a:t>
            </a:r>
            <a:endParaRPr sz="13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[Ожидаемый результат]</a:t>
            </a:r>
            <a:endParaRPr sz="13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/>
          <p:nvPr/>
        </p:nvSpPr>
        <p:spPr>
          <a:xfrm>
            <a:off x="377190" y="274320"/>
            <a:ext cx="7746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План по периодам</a:t>
            </a:r>
            <a:endParaRPr b="1" sz="21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8512835" y="205740"/>
            <a:ext cx="342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ru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8601989" y="548640"/>
            <a:ext cx="164700" cy="3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6865620" y="2476500"/>
            <a:ext cx="19050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[Результат периода]</a:t>
            </a:r>
            <a:endParaRPr sz="13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[Ключевые действия]</a:t>
            </a:r>
            <a:endParaRPr sz="13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1329690" y="2006600"/>
            <a:ext cx="6488400" cy="20400"/>
          </a:xfrm>
          <a:prstGeom prst="rect">
            <a:avLst/>
          </a:prstGeom>
          <a:solidFill>
            <a:srgbClr val="AAAAB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377190" y="2476500"/>
            <a:ext cx="19050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[Результат периода]</a:t>
            </a:r>
            <a:endParaRPr sz="13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[Ключевые действия]</a:t>
            </a:r>
            <a:endParaRPr sz="13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2540000" y="2476500"/>
            <a:ext cx="19050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[Результат периода]</a:t>
            </a:r>
            <a:endParaRPr sz="13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[Ключевые действия]</a:t>
            </a:r>
            <a:endParaRPr sz="13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300990" y="685800"/>
            <a:ext cx="8343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[Горизонт плана и главное направление]</a:t>
            </a:r>
            <a:endParaRPr sz="10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1272540" y="1949450"/>
            <a:ext cx="114300" cy="114300"/>
          </a:xfrm>
          <a:prstGeom prst="ellipse">
            <a:avLst/>
          </a:prstGeom>
          <a:solidFill>
            <a:srgbClr val="F22E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 txBox="1"/>
          <p:nvPr/>
        </p:nvSpPr>
        <p:spPr>
          <a:xfrm>
            <a:off x="377190" y="139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[Период 1]</a:t>
            </a:r>
            <a:endParaRPr b="1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3435350" y="1949450"/>
            <a:ext cx="114300" cy="114300"/>
          </a:xfrm>
          <a:prstGeom prst="ellipse">
            <a:avLst/>
          </a:prstGeom>
          <a:solidFill>
            <a:srgbClr val="F22E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0"/>
          <p:cNvSpPr txBox="1"/>
          <p:nvPr/>
        </p:nvSpPr>
        <p:spPr>
          <a:xfrm>
            <a:off x="2540000" y="139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[Период 2]</a:t>
            </a:r>
            <a:endParaRPr b="1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5598160" y="1949450"/>
            <a:ext cx="114300" cy="114300"/>
          </a:xfrm>
          <a:prstGeom prst="ellipse">
            <a:avLst/>
          </a:prstGeom>
          <a:solidFill>
            <a:srgbClr val="F22E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4702810" y="139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[Период 3]</a:t>
            </a:r>
            <a:endParaRPr b="1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7760970" y="1949450"/>
            <a:ext cx="114300" cy="114300"/>
          </a:xfrm>
          <a:prstGeom prst="ellipse">
            <a:avLst/>
          </a:prstGeom>
          <a:solidFill>
            <a:srgbClr val="F22E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 txBox="1"/>
          <p:nvPr/>
        </p:nvSpPr>
        <p:spPr>
          <a:xfrm>
            <a:off x="6865620" y="1397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[Период 4]</a:t>
            </a:r>
            <a:endParaRPr b="1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4617085" y="2390775"/>
            <a:ext cx="19050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[Результат периода]</a:t>
            </a:r>
            <a:endParaRPr sz="13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[Ключевые действия]</a:t>
            </a:r>
            <a:endParaRPr sz="13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>
            <a:off x="377190" y="274320"/>
            <a:ext cx="7746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План задач</a:t>
            </a:r>
            <a:endParaRPr b="1" sz="21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377190" y="762000"/>
            <a:ext cx="8382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[Команда, период или направление]</a:t>
            </a:r>
            <a:endParaRPr sz="1200" cap="none" strike="noStrike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8512835" y="205740"/>
            <a:ext cx="342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ru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8601989" y="548640"/>
            <a:ext cx="164700" cy="3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377190" y="12700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Задача</a:t>
            </a:r>
            <a:endParaRPr b="1" sz="13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4152900" y="1270000"/>
            <a:ext cx="124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Владелец</a:t>
            </a:r>
            <a:endParaRPr b="1" sz="13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5626100" y="1270000"/>
            <a:ext cx="1168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Срок</a:t>
            </a:r>
            <a:endParaRPr b="1" sz="13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377190" y="1625600"/>
            <a:ext cx="8389500" cy="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377190" y="1828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[Задача 1]</a:t>
            </a:r>
            <a:endParaRPr sz="125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4152900" y="1828800"/>
            <a:ext cx="124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[Владелец]</a:t>
            </a:r>
            <a:endParaRPr sz="125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5626100" y="1828800"/>
            <a:ext cx="1168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[Срок]</a:t>
            </a:r>
            <a:endParaRPr sz="125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377190" y="23241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[Задача 2]</a:t>
            </a:r>
            <a:endParaRPr sz="125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4152900" y="2324100"/>
            <a:ext cx="124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[Владелец]</a:t>
            </a:r>
            <a:endParaRPr sz="125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5626100" y="2324100"/>
            <a:ext cx="1168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[Срок]</a:t>
            </a:r>
            <a:endParaRPr sz="125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377190" y="28194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[Задача 3]</a:t>
            </a:r>
            <a:endParaRPr sz="125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4152900" y="2819400"/>
            <a:ext cx="124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[Владелец]</a:t>
            </a:r>
            <a:endParaRPr sz="125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5626100" y="2819400"/>
            <a:ext cx="1168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[Срок]</a:t>
            </a:r>
            <a:endParaRPr sz="125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377190" y="4406900"/>
            <a:ext cx="8389500" cy="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377190" y="4533900"/>
            <a:ext cx="838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[Следующий шаг или важная зависимость]</a:t>
            </a:r>
            <a:endParaRPr sz="12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291465" y="3228975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[Задача 4]</a:t>
            </a:r>
            <a:endParaRPr sz="12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4067175" y="3228975"/>
            <a:ext cx="124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[Владелец]</a:t>
            </a:r>
            <a:endParaRPr sz="12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5540375" y="3228975"/>
            <a:ext cx="1168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[Срок]</a:t>
            </a:r>
            <a:endParaRPr sz="12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291465" y="3724275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[Задача 5]</a:t>
            </a:r>
            <a:endParaRPr sz="12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4067175" y="3724275"/>
            <a:ext cx="1244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[Владелец]</a:t>
            </a:r>
            <a:endParaRPr sz="12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5540375" y="3724275"/>
            <a:ext cx="1168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[Срок]</a:t>
            </a:r>
            <a:endParaRPr sz="12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377190" y="2197100"/>
            <a:ext cx="83895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/>
          <p:nvPr/>
        </p:nvSpPr>
        <p:spPr>
          <a:xfrm>
            <a:off x="377190" y="2692400"/>
            <a:ext cx="83895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1"/>
          <p:cNvSpPr/>
          <p:nvPr/>
        </p:nvSpPr>
        <p:spPr>
          <a:xfrm>
            <a:off x="377190" y="3187700"/>
            <a:ext cx="83895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1"/>
          <p:cNvSpPr/>
          <p:nvPr/>
        </p:nvSpPr>
        <p:spPr>
          <a:xfrm>
            <a:off x="377190" y="3683000"/>
            <a:ext cx="83895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1"/>
          <p:cNvSpPr/>
          <p:nvPr/>
        </p:nvSpPr>
        <p:spPr>
          <a:xfrm>
            <a:off x="7010400" y="12700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Статус</a:t>
            </a:r>
            <a:endParaRPr b="1" sz="13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7010400" y="18288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[Статус]</a:t>
            </a:r>
            <a:endParaRPr sz="125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7010400" y="23241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[Статус]</a:t>
            </a:r>
            <a:endParaRPr sz="125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7010400" y="2819400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[Статус]</a:t>
            </a:r>
            <a:endParaRPr sz="125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6924675" y="3228975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[Статус]</a:t>
            </a:r>
            <a:endParaRPr sz="12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6924675" y="3724275"/>
            <a:ext cx="1752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[Статус]</a:t>
            </a:r>
            <a:endParaRPr sz="12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/>
          <p:nvPr/>
        </p:nvSpPr>
        <p:spPr>
          <a:xfrm>
            <a:off x="377190" y="274320"/>
            <a:ext cx="7746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Ключевые показатели</a:t>
            </a:r>
            <a:endParaRPr b="1" sz="21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377190" y="762000"/>
            <a:ext cx="8382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[Текущие значения, цели или фактический результат]</a:t>
            </a:r>
            <a:endParaRPr sz="1200" cap="none" strike="noStrike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8512835" y="205740"/>
            <a:ext cx="342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ru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8601989" y="548640"/>
            <a:ext cx="164700" cy="3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377190" y="2794000"/>
            <a:ext cx="25401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[Показатель 1]</a:t>
            </a:r>
            <a:endParaRPr b="1" sz="15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377190" y="1689100"/>
            <a:ext cx="25401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300">
                <a:solidFill>
                  <a:srgbClr val="F22E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endParaRPr b="1" sz="4300" cap="none" strike="noStrike">
              <a:solidFill>
                <a:srgbClr val="F22E2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377190" y="3492500"/>
            <a:ext cx="2540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[Единица и период]</a:t>
            </a:r>
            <a:endParaRPr sz="1100" cap="none" strike="noStrike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3302000" y="2794000"/>
            <a:ext cx="25401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[Показатель 2]</a:t>
            </a:r>
            <a:endParaRPr b="1" sz="15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3302000" y="1689100"/>
            <a:ext cx="25401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endParaRPr b="1" sz="43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3302000" y="3492500"/>
            <a:ext cx="2540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[Единица и период]</a:t>
            </a:r>
            <a:endParaRPr sz="1100" cap="none" strike="noStrike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6226810" y="2794000"/>
            <a:ext cx="25401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[Показатель 3]</a:t>
            </a:r>
            <a:endParaRPr b="1" sz="15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6226810" y="1689100"/>
            <a:ext cx="25401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</a:t>
            </a:r>
            <a:endParaRPr b="1" sz="43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6226810" y="3492500"/>
            <a:ext cx="2540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[Единица и период]</a:t>
            </a:r>
            <a:endParaRPr sz="1100" cap="none" strike="noStrike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377190" y="4406900"/>
            <a:ext cx="8389500" cy="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2"/>
          <p:cNvSpPr/>
          <p:nvPr/>
        </p:nvSpPr>
        <p:spPr>
          <a:xfrm>
            <a:off x="377190" y="4533900"/>
            <a:ext cx="838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[Что означают эти показатели]</a:t>
            </a:r>
            <a:endParaRPr sz="12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/>
          <p:nvPr/>
        </p:nvSpPr>
        <p:spPr>
          <a:xfrm>
            <a:off x="377190" y="274320"/>
            <a:ext cx="7746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Сравнение вариантов</a:t>
            </a:r>
            <a:endParaRPr b="1" sz="21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377190" y="762000"/>
            <a:ext cx="8382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[По каким критериям выбираем]</a:t>
            </a:r>
            <a:endParaRPr sz="1200" cap="none" strike="noStrike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8512835" y="205740"/>
            <a:ext cx="342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ru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8601989" y="548640"/>
            <a:ext cx="164700" cy="3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3"/>
          <p:cNvSpPr/>
          <p:nvPr/>
        </p:nvSpPr>
        <p:spPr>
          <a:xfrm>
            <a:off x="377190" y="1270000"/>
            <a:ext cx="3111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Критерий</a:t>
            </a:r>
            <a:endParaRPr b="1" sz="13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3581400" y="1270000"/>
            <a:ext cx="234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[Вариант A]</a:t>
            </a:r>
            <a:endParaRPr b="1" sz="13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6362700" y="1270000"/>
            <a:ext cx="2463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[Вариант B]</a:t>
            </a:r>
            <a:endParaRPr b="1" sz="13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377190" y="1625600"/>
            <a:ext cx="8389500" cy="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377190" y="1828800"/>
            <a:ext cx="306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[Критерий 1]</a:t>
            </a:r>
            <a:endParaRPr sz="13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3581400" y="1828800"/>
            <a:ext cx="234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[Описание]</a:t>
            </a:r>
            <a:endParaRPr sz="13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6362700" y="1828800"/>
            <a:ext cx="234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[Описание]</a:t>
            </a:r>
            <a:endParaRPr sz="13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377190" y="2324100"/>
            <a:ext cx="306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[Критерий 2]</a:t>
            </a:r>
            <a:endParaRPr sz="13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3581400" y="2324100"/>
            <a:ext cx="234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[Описание]</a:t>
            </a:r>
            <a:endParaRPr sz="13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6362700" y="2324100"/>
            <a:ext cx="234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[Описание]</a:t>
            </a:r>
            <a:endParaRPr sz="13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377190" y="2819400"/>
            <a:ext cx="306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[Критерий 3]</a:t>
            </a:r>
            <a:endParaRPr sz="13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3581400" y="2819400"/>
            <a:ext cx="234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[Описание]</a:t>
            </a:r>
            <a:endParaRPr sz="13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6362700" y="2819400"/>
            <a:ext cx="234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[Описание]</a:t>
            </a:r>
            <a:endParaRPr sz="13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377190" y="4406900"/>
            <a:ext cx="8389500" cy="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377190" y="4533900"/>
            <a:ext cx="838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[Какой вариант подходит и почему]</a:t>
            </a:r>
            <a:endParaRPr sz="12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291465" y="3228975"/>
            <a:ext cx="306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[Критерий 4]</a:t>
            </a:r>
            <a:endParaRPr sz="13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3495675" y="3228975"/>
            <a:ext cx="234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[Описание]</a:t>
            </a:r>
            <a:endParaRPr sz="13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6276975" y="3228975"/>
            <a:ext cx="234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[Описание]</a:t>
            </a:r>
            <a:endParaRPr sz="13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291465" y="3724275"/>
            <a:ext cx="306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[Критерий 5]</a:t>
            </a:r>
            <a:endParaRPr sz="13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3495675" y="3724275"/>
            <a:ext cx="234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[Описание]</a:t>
            </a:r>
            <a:endParaRPr sz="13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6276975" y="3724275"/>
            <a:ext cx="234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[Описание]</a:t>
            </a:r>
            <a:endParaRPr sz="13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377190" y="2197100"/>
            <a:ext cx="83895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3"/>
          <p:cNvSpPr/>
          <p:nvPr/>
        </p:nvSpPr>
        <p:spPr>
          <a:xfrm>
            <a:off x="377190" y="2692400"/>
            <a:ext cx="83895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377190" y="3187700"/>
            <a:ext cx="83895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377190" y="3683000"/>
            <a:ext cx="83895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/>
          <p:nvPr/>
        </p:nvSpPr>
        <p:spPr>
          <a:xfrm>
            <a:off x="377190" y="274320"/>
            <a:ext cx="7746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График и пояснение</a:t>
            </a:r>
            <a:endParaRPr b="1" sz="21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377190" y="7493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[Период, показатель и контекст сравнения]</a:t>
            </a:r>
            <a:endParaRPr sz="1100" cap="none" strike="noStrike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0" name="Google Shape;230;p24"/>
          <p:cNvSpPr/>
          <p:nvPr/>
        </p:nvSpPr>
        <p:spPr>
          <a:xfrm>
            <a:off x="8512835" y="205740"/>
            <a:ext cx="342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ru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8601989" y="548640"/>
            <a:ext cx="164700" cy="3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4"/>
          <p:cNvSpPr/>
          <p:nvPr/>
        </p:nvSpPr>
        <p:spPr>
          <a:xfrm>
            <a:off x="749300" y="1511300"/>
            <a:ext cx="4051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[Показатель], [единица]</a:t>
            </a:r>
            <a:endParaRPr b="1" sz="12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377190" y="4445000"/>
            <a:ext cx="8389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[Короткое пояснение к цифрам]</a:t>
            </a:r>
            <a:endParaRPr sz="12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4" name="Google Shape;234;p24"/>
          <p:cNvSpPr/>
          <p:nvPr/>
        </p:nvSpPr>
        <p:spPr>
          <a:xfrm>
            <a:off x="377190" y="4318000"/>
            <a:ext cx="8389500" cy="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4"/>
          <p:cNvSpPr/>
          <p:nvPr/>
        </p:nvSpPr>
        <p:spPr>
          <a:xfrm>
            <a:off x="381000" y="1168400"/>
            <a:ext cx="203100" cy="25500"/>
          </a:xfrm>
          <a:prstGeom prst="rect">
            <a:avLst/>
          </a:prstGeom>
          <a:solidFill>
            <a:srgbClr val="F22E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627380" y="1059180"/>
            <a:ext cx="181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[Серия 1]</a:t>
            </a:r>
            <a:endParaRPr sz="10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2565400" y="1168400"/>
            <a:ext cx="203100" cy="25500"/>
          </a:xfrm>
          <a:prstGeom prst="rect">
            <a:avLst/>
          </a:prstGeom>
          <a:solidFill>
            <a:srgbClr val="AAAA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2811780" y="1059180"/>
            <a:ext cx="181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[Серия 2]</a:t>
            </a:r>
            <a:endParaRPr sz="10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749300" y="3987800"/>
            <a:ext cx="38988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203200" y="3860800"/>
            <a:ext cx="5334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5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85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749300" y="3368675"/>
            <a:ext cx="38988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203200" y="3241675"/>
            <a:ext cx="5334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5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85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749300" y="2749550"/>
            <a:ext cx="38988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203200" y="2622550"/>
            <a:ext cx="5334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5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85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749300" y="2130425"/>
            <a:ext cx="38988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203200" y="2003425"/>
            <a:ext cx="5334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5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85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7" name="Google Shape;247;p24"/>
          <p:cNvSpPr txBox="1"/>
          <p:nvPr/>
        </p:nvSpPr>
        <p:spPr>
          <a:xfrm>
            <a:off x="482600" y="4030980"/>
            <a:ext cx="50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[X1]</a:t>
            </a:r>
            <a:endParaRPr sz="9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1782233" y="4030980"/>
            <a:ext cx="50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[X2]</a:t>
            </a:r>
            <a:endParaRPr sz="9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9" name="Google Shape;249;p24"/>
          <p:cNvSpPr txBox="1"/>
          <p:nvPr/>
        </p:nvSpPr>
        <p:spPr>
          <a:xfrm>
            <a:off x="3081867" y="4030980"/>
            <a:ext cx="50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[X3]</a:t>
            </a:r>
            <a:endParaRPr sz="9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4381500" y="4030980"/>
            <a:ext cx="50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[X4]</a:t>
            </a:r>
            <a:endParaRPr sz="9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1117600" y="2794000"/>
            <a:ext cx="3111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[Место для графика]</a:t>
            </a:r>
            <a:endParaRPr sz="12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5245100" y="1435100"/>
            <a:ext cx="347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[Что показывает график]</a:t>
            </a:r>
            <a:endParaRPr b="1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5245100" y="2247900"/>
            <a:ext cx="3479700" cy="18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[Главное наблюдение]</a:t>
            </a:r>
            <a:endParaRPr sz="15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[Важная деталь]</a:t>
            </a:r>
            <a:endParaRPr sz="15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[Вывод или действие]</a:t>
            </a:r>
            <a:endParaRPr sz="15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/>
          <p:nvPr/>
        </p:nvSpPr>
        <p:spPr>
          <a:xfrm>
            <a:off x="377190" y="274320"/>
            <a:ext cx="7746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Два графика на одном слайде</a:t>
            </a:r>
            <a:endParaRPr b="1" sz="21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377190" y="7493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[Общий контекст и период]</a:t>
            </a:r>
            <a:endParaRPr sz="1100" cap="none" strike="noStrike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8512835" y="205740"/>
            <a:ext cx="342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ru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8601989" y="548640"/>
            <a:ext cx="164700" cy="3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5"/>
          <p:cNvSpPr/>
          <p:nvPr/>
        </p:nvSpPr>
        <p:spPr>
          <a:xfrm>
            <a:off x="736600" y="1498600"/>
            <a:ext cx="3810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[Показатель 1], [единица]</a:t>
            </a:r>
            <a:endParaRPr b="1" sz="12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143500" y="1498600"/>
            <a:ext cx="3555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[Показатель 2], [единица]</a:t>
            </a:r>
            <a:endParaRPr b="1" sz="12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377190" y="4445000"/>
            <a:ext cx="8389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[Что важно увидеть на этих графиках]</a:t>
            </a:r>
            <a:endParaRPr sz="12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377190" y="4318000"/>
            <a:ext cx="8389500" cy="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5"/>
          <p:cNvSpPr/>
          <p:nvPr/>
        </p:nvSpPr>
        <p:spPr>
          <a:xfrm>
            <a:off x="381000" y="1155700"/>
            <a:ext cx="203100" cy="25500"/>
          </a:xfrm>
          <a:prstGeom prst="rect">
            <a:avLst/>
          </a:prstGeom>
          <a:solidFill>
            <a:srgbClr val="F22E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627380" y="1046480"/>
            <a:ext cx="181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[Серия 1]</a:t>
            </a:r>
            <a:endParaRPr sz="10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2565400" y="1155700"/>
            <a:ext cx="203100" cy="25500"/>
          </a:xfrm>
          <a:prstGeom prst="rect">
            <a:avLst/>
          </a:prstGeom>
          <a:solidFill>
            <a:srgbClr val="AAAA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2811780" y="1046480"/>
            <a:ext cx="181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[Серия 2]</a:t>
            </a:r>
            <a:endParaRPr sz="10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749300" y="3797300"/>
            <a:ext cx="34926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203200" y="3670300"/>
            <a:ext cx="5334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5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85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749300" y="3237706"/>
            <a:ext cx="34926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203200" y="3110706"/>
            <a:ext cx="5334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5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85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749300" y="2678113"/>
            <a:ext cx="34926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203200" y="2551113"/>
            <a:ext cx="5334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5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85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749300" y="2118519"/>
            <a:ext cx="34926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203200" y="1991519"/>
            <a:ext cx="5334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5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85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9" name="Google Shape;279;p25"/>
          <p:cNvSpPr txBox="1"/>
          <p:nvPr/>
        </p:nvSpPr>
        <p:spPr>
          <a:xfrm>
            <a:off x="482600" y="3840480"/>
            <a:ext cx="50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[X1]</a:t>
            </a:r>
            <a:endParaRPr sz="9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1646767" y="3840480"/>
            <a:ext cx="50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[X2]</a:t>
            </a:r>
            <a:endParaRPr sz="9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1" name="Google Shape;281;p25"/>
          <p:cNvSpPr txBox="1"/>
          <p:nvPr/>
        </p:nvSpPr>
        <p:spPr>
          <a:xfrm>
            <a:off x="2810933" y="3840480"/>
            <a:ext cx="50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[X3]</a:t>
            </a:r>
            <a:endParaRPr sz="9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3975100" y="3840480"/>
            <a:ext cx="50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[X4]</a:t>
            </a:r>
            <a:endParaRPr sz="9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3" name="Google Shape;283;p25"/>
          <p:cNvSpPr txBox="1"/>
          <p:nvPr/>
        </p:nvSpPr>
        <p:spPr>
          <a:xfrm>
            <a:off x="965200" y="2730500"/>
            <a:ext cx="3111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[Место для графика]</a:t>
            </a:r>
            <a:endParaRPr sz="12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5168900" y="3797300"/>
            <a:ext cx="34926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4622800" y="3670300"/>
            <a:ext cx="5334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5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85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5168900" y="3219655"/>
            <a:ext cx="34926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4622800" y="3092655"/>
            <a:ext cx="5334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5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85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5168900" y="2642010"/>
            <a:ext cx="34926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4622800" y="2515010"/>
            <a:ext cx="5334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5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85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168900" y="2064365"/>
            <a:ext cx="3492600" cy="5100"/>
          </a:xfrm>
          <a:prstGeom prst="rect">
            <a:avLst/>
          </a:prstGeom>
          <a:solidFill>
            <a:srgbClr val="3A3A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4622800" y="1937365"/>
            <a:ext cx="5334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5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85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2" name="Google Shape;292;p25"/>
          <p:cNvSpPr txBox="1"/>
          <p:nvPr/>
        </p:nvSpPr>
        <p:spPr>
          <a:xfrm>
            <a:off x="4902200" y="3840480"/>
            <a:ext cx="50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[X1]</a:t>
            </a:r>
            <a:endParaRPr sz="9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3" name="Google Shape;293;p25"/>
          <p:cNvSpPr txBox="1"/>
          <p:nvPr/>
        </p:nvSpPr>
        <p:spPr>
          <a:xfrm>
            <a:off x="6066367" y="3840480"/>
            <a:ext cx="50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[X2]</a:t>
            </a:r>
            <a:endParaRPr sz="9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4" name="Google Shape;294;p25"/>
          <p:cNvSpPr txBox="1"/>
          <p:nvPr/>
        </p:nvSpPr>
        <p:spPr>
          <a:xfrm>
            <a:off x="7230533" y="3840480"/>
            <a:ext cx="50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[X3]</a:t>
            </a:r>
            <a:endParaRPr sz="9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5" name="Google Shape;295;p25"/>
          <p:cNvSpPr txBox="1"/>
          <p:nvPr/>
        </p:nvSpPr>
        <p:spPr>
          <a:xfrm>
            <a:off x="8394700" y="3840480"/>
            <a:ext cx="50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[X4]</a:t>
            </a:r>
            <a:endParaRPr sz="9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6" name="Google Shape;296;p25"/>
          <p:cNvSpPr txBox="1"/>
          <p:nvPr/>
        </p:nvSpPr>
        <p:spPr>
          <a:xfrm>
            <a:off x="5384800" y="2730500"/>
            <a:ext cx="3111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[Место для графика]</a:t>
            </a:r>
            <a:endParaRPr sz="12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"/>
          <p:cNvSpPr/>
          <p:nvPr/>
        </p:nvSpPr>
        <p:spPr>
          <a:xfrm>
            <a:off x="377190" y="274320"/>
            <a:ext cx="7746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Итоги и следующие шаги</a:t>
            </a:r>
            <a:endParaRPr b="1" sz="21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8512835" y="205740"/>
            <a:ext cx="342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1" i="0" lang="ru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8601989" y="548640"/>
            <a:ext cx="164700" cy="3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377190" y="43053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AAAA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[Главный итог презентации]</a:t>
            </a:r>
            <a:endParaRPr sz="1300">
              <a:solidFill>
                <a:srgbClr val="AAAA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377190" y="1917700"/>
            <a:ext cx="39879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[Действия и сроки]</a:t>
            </a: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[Ближайший результат]</a:t>
            </a: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4775200" y="1917700"/>
            <a:ext cx="39879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[Решение или помощь]</a:t>
            </a: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[Ключевая зависимость]</a:t>
            </a:r>
            <a:endParaRPr sz="16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377190" y="1282700"/>
            <a:ext cx="39879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F22E2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[Что делаем дальше]</a:t>
            </a:r>
            <a:endParaRPr b="1" sz="1700" cap="none" strike="noStrike">
              <a:solidFill>
                <a:srgbClr val="F22E2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4775200" y="1282700"/>
            <a:ext cx="39879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[Что нужно согласовать]</a:t>
            </a:r>
            <a:endParaRPr b="1" sz="1700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